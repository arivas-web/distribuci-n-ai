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8c2e71a-4f30-2cb7-717b-7c22d395e836}">
          <p14:sldIdLst>
            <p14:sldId id="256"/>
          </p14:sldIdLst>
        </p14:section>
        <p14:section name="Problema" id="{7b4ca800-6770-e207-c894-9941803bb71c}">
          <p14:sldIdLst>
            <p14:sldId id="257"/>
          </p14:sldIdLst>
        </p14:section>
        <p14:section name="Solución" id="{d75862c4-ff2f-f26a-19e9-a7141e91acf8}">
          <p14:sldIdLst>
            <p14:sldId id="258"/>
            <p14:sldId id="259"/>
          </p14:sldIdLst>
        </p14:section>
        <p14:section name="Valor" id="{b371e0ee-a26d-a3ee-ad08-558e7bbf0960}">
          <p14:sldIdLst>
            <p14:sldId id="260"/>
            <p14:sldId id="261"/>
          </p14:sldIdLst>
        </p14:section>
        <p14:section name="Resultados" id="{3f91e110-3537-e8c3-6839-eec147cd4697}">
          <p14:sldIdLst>
            <p14:sldId id="262"/>
            <p14:sldId id="263"/>
          </p14:sldIdLst>
        </p14:section>
        <p14:section name="Diferencia" id="{bc564922-a65f-8b41-c5be-65786e5cf195}">
          <p14:sldIdLst>
            <p14:sldId id="264"/>
          </p14:sldIdLst>
        </p14:section>
        <p14:section name="Piloto" id="{181a9fc9-1f9a-9203-0935-719790e0dcc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20"/>
                </a:solidFill>
                <a:latin typeface="+mn-lt"/>
              </a:rPr>
              <a:t>Clientes en riesgo que vuelven a su patrón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recuperados</c:v>
                </c:pt>
              </c:strCache>
            </c:strRef>
          </c:tx>
          <c:spPr>
            <a:solidFill>
              <a:srgbClr val="0F5C57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D23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5C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AEA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Contactados por el agente</c:v>
                  </c:pt>
                  <c:pt idx="1">
                    <c:v>Grupo de control, sin contactar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75.4</c:v>
                </c:pt>
                <c:pt idx="1">
                  <c:v>17.6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1D23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3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320"/>
                </a:solidFill>
                <a:latin typeface="+mn-lt"/>
              </a:rPr>
              <a:t>Margen recuperado por 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recuperado</c:v>
                </c:pt>
              </c:strCache>
            </c:strRef>
          </c:tx>
          <c:spPr>
            <a:solidFill>
              <a:srgbClr val="0F5C57"/>
            </a:solidFill>
            <a:effectLst/>
          </c:spPr>
          <c:invertIfNegative val="0"/>
          <c:dLbls>
            <c:numFmt formatCode="#,##0&quot; 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3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223</c:v>
                </c:pt>
                <c:pt idx="1">
                  <c:v>972</c:v>
                </c:pt>
                <c:pt idx="2">
                  <c:v>5149</c:v>
                </c:pt>
                <c:pt idx="3">
                  <c:v>9023</c:v>
                </c:pt>
                <c:pt idx="4">
                  <c:v>11348</c:v>
                </c:pt>
                <c:pt idx="5">
                  <c:v>7794</c:v>
                </c:pt>
              </c:numCache>
            </c:numRef>
          </c:val>
        </c:ser>
        <c:dLbls>
          <c:numFmt formatCode="#,##0&quot; 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23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3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corta: el problema, qué hace Ryvai, resultados medibles y cómo empezar con un piloto de 90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señales que vigila el agente. La cifra de 25 de 300 sale de la demo; en un piloto se calcula con los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completo. Lo diferencial es el paso 4: el agente no se inventa nada cuando no puede, para y pregunta con opciones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un caso atascado: qué intentaba, por qué se ha parado y opciones con su consecuencia. Un clic y el agente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Más ventas, menos trabajo y control. El control es lo que tranquiliza al director comercial: nada se hace sin el nivel de permiso que él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de abrir la demo y recorrer la historia guiada: bandeja, ficha con el gráfico, conversación, aprobación y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que da credibilidad. En el piloto se reserva un grupo de control con los datos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agente arranca poco a poco: los primeros meses recupera menos porque va ganando cobertura y permisos.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nombrar competidores. Si preguntan por Choco: es fuerte recibiendo pedidos; Ryvai sale a buscar al cliente que deja de pedir y lo mide. Los ERP de preventa no compiten: Ryvai se conecta a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autonomía sube por fases, igual que en la pantalla de Autonomía de la demo. Ajusta plazos y requisitos a cada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pidiendo el siguiente paso concreto: una reunión para elegir los clientes del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Ryvai · Propuesta de valor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El agente que cuida a tus clientes para que no se vayan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Propuesta de valor de Ryvai para distribuidoras B2B de hostelería y alimentación</a:t>
            </a:r>
            <a:endParaRPr lang="en-US" sz="2000" dirty="0"/>
          </a:p>
        </p:txBody>
      </p:sp>
      <p:sp>
        <p:nvSpPr>
          <p:cNvPr id="4" name="Marca"/>
          <p:cNvSpPr txBox="1"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Ryvai</a:t>
            </a:r>
            <a:endParaRPr lang="en-US" sz="2200" dirty="0"/>
          </a:p>
        </p:txBody>
      </p:sp>
      <p:sp>
        <p:nvSpPr>
          <p:cNvPr id="5" name="Fecha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Tus clientes no se van de golpe: se van poco a poco</a:t>
            </a:r>
            <a:endParaRPr lang="en-US" sz="3000" dirty="0"/>
          </a:p>
        </p:txBody>
      </p:sp>
      <p:sp>
        <p:nvSpPr>
          <p:cNvPr id="3" name="Círculo Clock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" name="Icono 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66237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4904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 retrasan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379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Pedía cada semana y lleva 15 días sin pedir.</a:t>
            </a:r>
            <a:endParaRPr lang="en-US" sz="1400" dirty="0"/>
          </a:p>
        </p:txBody>
      </p:sp>
      <p:sp>
        <p:nvSpPr>
          <p:cNvPr id="7" name="Círculo TrendingDown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cono TrendingD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7139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5420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Piden menos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89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 pedido baja un 40 % en dos meses.</a:t>
            </a:r>
            <a:endParaRPr lang="en-US" sz="1400" dirty="0"/>
          </a:p>
        </p:txBody>
      </p:sp>
      <p:sp>
        <p:nvSpPr>
          <p:cNvPr id="11" name="Círculo PackageX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cono Package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5935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Dejan una familia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9410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Sigue pidiendo, pero ya no compra cerveza de barril.</a:t>
            </a:r>
            <a:endParaRPr lang="en-US" sz="1400" dirty="0"/>
          </a:p>
        </p:txBody>
      </p:sp>
      <p:sp>
        <p:nvSpPr>
          <p:cNvPr id="15" name="Círculo UserX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o User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81705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6451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repiten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99262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 cliente nuevo hace un pedido y desaparece.</a:t>
            </a:r>
            <a:endParaRPr lang="en-US" sz="1400" dirty="0"/>
          </a:p>
        </p:txBody>
      </p:sp>
      <p:sp>
        <p:nvSpPr>
          <p:cNvPr id="19" name="Tarjeta dato"/>
          <p:cNvSpPr/>
          <p:nvPr/>
        </p:nvSpPr>
        <p:spPr>
          <a:xfrm>
            <a:off x="7406640" y="1508760"/>
            <a:ext cx="4233672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72668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25 de 300</a:t>
            </a:r>
            <a:endParaRPr lang="en-US" sz="48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26974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clientes se están saliendo de su patrón en un día cualquiera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26680" y="35661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 4 comerciales y cientos de clientes, nadie lo ve a tiempo. Cuando se nota en la facturación, el cliente ya compra en otro sitio.</a:t>
            </a:r>
            <a:endParaRPr lang="en-US" sz="1400" dirty="0"/>
          </a:p>
        </p:txBody>
      </p:sp>
      <p:sp>
        <p:nvSpPr>
          <p:cNvPr id="23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Datos ilustrativos de la demo: Distribuciones Atlántico, 300 clientes de hostelería y tiendas en Galicia.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Ryvai trabaja tu cartera de clientes cada día</a:t>
            </a:r>
            <a:endParaRPr lang="en-US" sz="3000" dirty="0"/>
          </a:p>
        </p:txBody>
      </p:sp>
      <p:sp>
        <p:nvSpPr>
          <p:cNvPr id="3" name="Paso 1"/>
          <p:cNvSpPr/>
          <p:nvPr/>
        </p:nvSpPr>
        <p:spPr>
          <a:xfrm>
            <a:off x="548640" y="1508760"/>
            <a:ext cx="2578608" cy="3017520"/>
          </a:xfrm>
          <a:prstGeom prst="roundRect">
            <a:avLst>
              <a:gd name="adj" fmla="val 5319"/>
            </a:avLst>
          </a:prstGeom>
          <a:solidFill>
            <a:schemeClr val="bg2"/>
          </a:solidFill>
          <a:ln/>
        </p:spPr>
      </p:sp>
      <p:sp>
        <p:nvSpPr>
          <p:cNvPr id="4" name="Círculo Radar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cono Rad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Detecta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Compara a cada cliente con su propio patrón: frecuencia, volumen y familias que compra.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3387242" y="1508760"/>
            <a:ext cx="2578608" cy="3017520"/>
          </a:xfrm>
          <a:prstGeom prst="roundRect">
            <a:avLst>
              <a:gd name="adj" fmla="val 5319"/>
            </a:avLst>
          </a:prstGeom>
          <a:solidFill>
            <a:schemeClr val="bg2"/>
          </a:solidFill>
          <a:ln/>
        </p:spPr>
      </p:sp>
      <p:sp>
        <p:nvSpPr>
          <p:cNvPr id="9" name="Círculo MessageCircle"/>
          <p:cNvSpPr/>
          <p:nvPr/>
        </p:nvSpPr>
        <p:spPr>
          <a:xfrm>
            <a:off x="3661562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cono MessageCirc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154" y="19476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1562" y="2697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Contacta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1562" y="315468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Escribe por WhatsApp o llama, en un tono cercano y natural. Entiende notas de voz.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6225845" y="1508760"/>
            <a:ext cx="2578608" cy="3017520"/>
          </a:xfrm>
          <a:prstGeom prst="roundRect">
            <a:avLst>
              <a:gd name="adj" fmla="val 5319"/>
            </a:avLst>
          </a:prstGeom>
          <a:solidFill>
            <a:schemeClr val="bg2"/>
          </a:solidFill>
          <a:ln/>
        </p:spPr>
      </p:sp>
      <p:sp>
        <p:nvSpPr>
          <p:cNvPr id="14" name="Círculo ShoppingCart"/>
          <p:cNvSpPr/>
          <p:nvPr/>
        </p:nvSpPr>
        <p:spPr>
          <a:xfrm>
            <a:off x="6500165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cono ShoppingCa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757" y="19476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0165" y="2697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Cierra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0165" y="315468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Cierra el pedido, aplica lo que tiene permitido y lo registra en el ERP.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9064447" y="1508760"/>
            <a:ext cx="2578608" cy="3017520"/>
          </a:xfrm>
          <a:prstGeom prst="roundRect">
            <a:avLst>
              <a:gd name="adj" fmla="val 5319"/>
            </a:avLst>
          </a:prstGeom>
          <a:solidFill>
            <a:schemeClr val="accent6"/>
          </a:solidFill>
          <a:ln/>
        </p:spPr>
      </p:sp>
      <p:sp>
        <p:nvSpPr>
          <p:cNvPr id="19" name="Círculo Hand"/>
          <p:cNvSpPr/>
          <p:nvPr/>
        </p:nvSpPr>
        <p:spPr>
          <a:xfrm>
            <a:off x="9338767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cono Han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359" y="19476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38767" y="26974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 Pide ayuda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38767" y="315468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Solo cuando necesita permiso, información o que hable una persona.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Tu equipo deja de perseguir clientes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 solo resuelve las excepciones, desde el ordenador o el móvil.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 equipo solo interviene cuando hace falta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96 %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 las conversaciones se resuelven sin intervención humana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 día normal: 59 clientes atendidos, 26 pedidos cerrados y 9 casos que necesitan una decisión.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 decides dos veces lo mismo, el agente te propone convertirlo en regla y hacerlo solo.</a:t>
            </a:r>
            <a:endParaRPr lang="en-US" sz="1400" dirty="0"/>
          </a:p>
        </p:txBody>
      </p:sp>
      <p:sp>
        <p:nvSpPr>
          <p:cNvPr id="7" name="Tarjeta caso"/>
          <p:cNvSpPr/>
          <p:nvPr/>
        </p:nvSpPr>
        <p:spPr>
          <a:xfrm>
            <a:off x="6035040" y="1508760"/>
            <a:ext cx="5605272" cy="420624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 w="12700">
            <a:solidFill>
              <a:srgbClr val="C9DFDB"/>
            </a:solidFill>
            <a:prstDash val="solid"/>
          </a:ln>
          <a:effectLst>
            <a:outerShdw sx="100000" sy="100000" kx="0" ky="0" algn="bl" rotWithShape="0" blurRad="152400" dist="38100" dir="5400000">
              <a:srgbClr val="1D232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NECESITA PERMISO · URGENTE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075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Bar O Peirao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400032" y="2075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3.472 € al mes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0320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Para igualar a la competencia necesita un 8 % de descuento en barril y solo tiene permiso hasta el 5 %.</a:t>
            </a:r>
            <a:endParaRPr lang="en-US" sz="1400" dirty="0"/>
          </a:p>
        </p:txBody>
      </p:sp>
      <p:sp>
        <p:nvSpPr>
          <p:cNvPr id="12" name="Opción Ofrecer un 8 % durante 3 meses"/>
          <p:cNvSpPr/>
          <p:nvPr/>
        </p:nvSpPr>
        <p:spPr>
          <a:xfrm>
            <a:off x="6355080" y="3383280"/>
            <a:ext cx="4965192" cy="658368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 w="12700">
            <a:solidFill>
              <a:srgbClr val="C9DF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345643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Ofrecer un 8 % durante 3 meses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3075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Recomendada · margen del pedido 21,6 %</a:t>
            </a:r>
            <a:endParaRPr lang="en-US" sz="1200" dirty="0"/>
          </a:p>
        </p:txBody>
      </p:sp>
      <p:sp>
        <p:nvSpPr>
          <p:cNvPr id="15" name="Opción Ofrecer solo el 5 % autorizado"/>
          <p:cNvSpPr/>
          <p:nvPr/>
        </p:nvSpPr>
        <p:spPr>
          <a:xfrm>
            <a:off x="6355080" y="4133088"/>
            <a:ext cx="4965192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rgbClr val="E3DE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420624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Ofrecer solo el 5 % autorizado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48056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Probablemente no iguale la otra oferta</a:t>
            </a:r>
            <a:endParaRPr lang="en-US" sz="1200" dirty="0"/>
          </a:p>
        </p:txBody>
      </p:sp>
      <p:sp>
        <p:nvSpPr>
          <p:cNvPr id="18" name="Opción Pasárselo a Xoán Pereira"/>
          <p:cNvSpPr/>
          <p:nvPr/>
        </p:nvSpPr>
        <p:spPr>
          <a:xfrm>
            <a:off x="6355080" y="4882896"/>
            <a:ext cx="4965192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rgbClr val="E3DED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95604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Pasárselo a Xoán Pereira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23036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Lo visita el jueves en su ruta</a:t>
            </a:r>
            <a:endParaRPr lang="en-US" sz="1200" dirty="0"/>
          </a:p>
        </p:txBody>
      </p:sp>
      <p:sp>
        <p:nvSpPr>
          <p:cNvPr id="21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Datos ilustrativos de la demo.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Tres razones para tenerlo</a:t>
            </a:r>
            <a:endParaRPr lang="en-US" sz="3000" dirty="0"/>
          </a:p>
        </p:txBody>
      </p:sp>
      <p:sp>
        <p:nvSpPr>
          <p:cNvPr id="3" name="Más ventas"/>
          <p:cNvSpPr/>
          <p:nvPr/>
        </p:nvSpPr>
        <p:spPr>
          <a:xfrm>
            <a:off x="548640" y="1508760"/>
            <a:ext cx="3511296" cy="4297680"/>
          </a:xfrm>
          <a:prstGeom prst="roundRect">
            <a:avLst>
              <a:gd name="adj" fmla="val 3906"/>
            </a:avLst>
          </a:prstGeom>
          <a:solidFill>
            <a:schemeClr val="bg2"/>
          </a:solidFill>
          <a:ln/>
        </p:spPr>
      </p:sp>
      <p:sp>
        <p:nvSpPr>
          <p:cNvPr id="4" name="Círculo TrendingUp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cono TrendingU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Más ventas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Recupera a los clientes que se están yendo antes de que sea tarde, y las familias que dejaron de comprar.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3891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75 %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0749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 los clientes contactados vuelven a su patrón</a:t>
            </a:r>
            <a:endParaRPr lang="en-US" sz="1200" dirty="0"/>
          </a:p>
        </p:txBody>
      </p:sp>
      <p:sp>
        <p:nvSpPr>
          <p:cNvPr id="10" name="Menos trabajo"/>
          <p:cNvSpPr/>
          <p:nvPr/>
        </p:nvSpPr>
        <p:spPr>
          <a:xfrm>
            <a:off x="4340200" y="1508760"/>
            <a:ext cx="3511296" cy="4297680"/>
          </a:xfrm>
          <a:prstGeom prst="roundRect">
            <a:avLst>
              <a:gd name="adj" fmla="val 3906"/>
            </a:avLst>
          </a:prstGeom>
          <a:solidFill>
            <a:schemeClr val="bg2"/>
          </a:solidFill>
          <a:ln/>
        </p:spPr>
      </p:sp>
      <p:sp>
        <p:nvSpPr>
          <p:cNvPr id="11" name="Círculo Timer"/>
          <p:cNvSpPr/>
          <p:nvPr/>
        </p:nvSpPr>
        <p:spPr>
          <a:xfrm>
            <a:off x="4660240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cono Tim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832" y="19476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0240" y="26517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Menos trabajo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60240" y="310896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Los pedidos habituales se confirman y se registran en el ERP solos, por WhatsApp o por teléfono.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60240" y="43891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26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4660240" y="50749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pedidos cerrados en una mañana sin teclear nada</a:t>
            </a:r>
            <a:endParaRPr lang="en-US" sz="1200" dirty="0"/>
          </a:p>
        </p:txBody>
      </p:sp>
      <p:sp>
        <p:nvSpPr>
          <p:cNvPr id="17" name="Todo bajo control"/>
          <p:cNvSpPr/>
          <p:nvPr/>
        </p:nvSpPr>
        <p:spPr>
          <a:xfrm>
            <a:off x="8131759" y="1508760"/>
            <a:ext cx="3511296" cy="4297680"/>
          </a:xfrm>
          <a:prstGeom prst="roundRect">
            <a:avLst>
              <a:gd name="adj" fmla="val 3906"/>
            </a:avLst>
          </a:prstGeom>
          <a:solidFill>
            <a:schemeClr val="bg2"/>
          </a:solidFill>
          <a:ln/>
        </p:spPr>
      </p:sp>
      <p:sp>
        <p:nvSpPr>
          <p:cNvPr id="18" name="Círculo ShieldCheck"/>
          <p:cNvSpPr/>
          <p:nvPr/>
        </p:nvSpPr>
        <p:spPr>
          <a:xfrm>
            <a:off x="8451799" y="178308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cono Shiel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391" y="194767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51799" y="265176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Todo bajo control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451799" y="310896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Decides hasta dónde llega el agente en cada tipo de acción. Cada conversación queda registrada.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451799" y="43891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8451799" y="50749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niveles: observa, propone, actúa y avisa, actúa solo</a:t>
            </a:r>
            <a:endParaRPr lang="en-US" sz="1200" dirty="0"/>
          </a:p>
        </p:txBody>
      </p:sp>
      <p:sp>
        <p:nvSpPr>
          <p:cNvPr id="24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Cifras de la demo.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caso de la demo: el Bar O Peirao</a:t>
            </a:r>
            <a:endParaRPr lang="en-US" sz="3000" dirty="0"/>
          </a:p>
        </p:txBody>
      </p:sp>
      <p:sp>
        <p:nvSpPr>
          <p:cNvPr id="3" name="Línea de tiempo"/>
          <p:cNvSpPr/>
          <p:nvPr/>
        </p:nvSpPr>
        <p:spPr>
          <a:xfrm>
            <a:off x="1097280" y="2331720"/>
            <a:ext cx="9997135" cy="0"/>
          </a:xfrm>
          <a:prstGeom prst="line">
            <a:avLst/>
          </a:prstGeom>
          <a:noFill/>
          <a:ln w="25400">
            <a:solidFill>
              <a:srgbClr val="C9DFDB"/>
            </a:solidFill>
            <a:prstDash val="solid"/>
          </a:ln>
        </p:spPr>
      </p:sp>
      <p:sp>
        <p:nvSpPr>
          <p:cNvPr id="4" name="Hito 1"/>
          <p:cNvSpPr/>
          <p:nvPr/>
        </p:nvSpPr>
        <p:spPr>
          <a:xfrm>
            <a:off x="969264" y="22037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01/09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Último barril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Pedía 2 barriles cada semana.</a:t>
            </a:r>
            <a:endParaRPr lang="en-US" sz="1200" dirty="0"/>
          </a:p>
        </p:txBody>
      </p:sp>
      <p:sp>
        <p:nvSpPr>
          <p:cNvPr id="8" name="Hito 2"/>
          <p:cNvSpPr/>
          <p:nvPr/>
        </p:nvSpPr>
        <p:spPr>
          <a:xfrm>
            <a:off x="2968691" y="22037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82307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08/09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82307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Pide sin barril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82307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Nadie lo nota: el pedido sigue llegando.</a:t>
            </a:r>
            <a:endParaRPr lang="en-US" sz="1200" dirty="0"/>
          </a:p>
        </p:txBody>
      </p:sp>
      <p:sp>
        <p:nvSpPr>
          <p:cNvPr id="12" name="Hito 3"/>
          <p:cNvSpPr/>
          <p:nvPr/>
        </p:nvSpPr>
        <p:spPr>
          <a:xfrm>
            <a:off x="4968118" y="220370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1734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15/09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81734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Último pedido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81734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Después, dos semanas sin pedir.</a:t>
            </a:r>
            <a:endParaRPr lang="en-US" sz="1200" dirty="0"/>
          </a:p>
        </p:txBody>
      </p:sp>
      <p:sp>
        <p:nvSpPr>
          <p:cNvPr id="16" name="Hito 4"/>
          <p:cNvSpPr/>
          <p:nvPr/>
        </p:nvSpPr>
        <p:spPr>
          <a:xfrm>
            <a:off x="6967545" y="22037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81161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30/09 · 10:14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81161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agente le escribe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81161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Otra distribuidora le deja el barril a 96 €.</a:t>
            </a:r>
            <a:endParaRPr lang="en-US" sz="1200" dirty="0"/>
          </a:p>
        </p:txBody>
      </p:sp>
      <p:sp>
        <p:nvSpPr>
          <p:cNvPr id="20" name="Hito 5"/>
          <p:cNvSpPr/>
          <p:nvPr/>
        </p:nvSpPr>
        <p:spPr>
          <a:xfrm>
            <a:off x="8966972" y="22037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0588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30/09 · 10:41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80588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Pide permiso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80588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Para un 8 %; solo puede llegar al 5 %.</a:t>
            </a:r>
            <a:endParaRPr lang="en-US" sz="1200" dirty="0"/>
          </a:p>
        </p:txBody>
      </p:sp>
      <p:sp>
        <p:nvSpPr>
          <p:cNvPr id="24" name="Hito 6"/>
          <p:cNvSpPr/>
          <p:nvPr/>
        </p:nvSpPr>
        <p:spPr>
          <a:xfrm>
            <a:off x="10966399" y="22037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80015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 clic después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 cerrado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180015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396 € con los dos barriles de siempre.</a:t>
            </a:r>
            <a:endParaRPr lang="en-US" sz="1200" dirty="0"/>
          </a:p>
        </p:txBody>
      </p:sp>
      <p:sp>
        <p:nvSpPr>
          <p:cNvPr id="28" name="Conclusión caso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43484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Unos 3.472 € al mes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que se habrían ido sin que nadie lo notara. El director solo tuvo que aprobar un descuento desde el móvil.</a:t>
            </a:r>
            <a:endParaRPr lang="en-US" sz="1800" dirty="0"/>
          </a:p>
        </p:txBody>
      </p:sp>
      <p:sp>
        <p:nvSpPr>
          <p:cNvPr id="30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Caso ficticio de la demo. En la demo se recorre en directo con la «Historia guiada».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 medimos frente a un grupo de control</a:t>
            </a:r>
            <a:endParaRPr lang="en-US" sz="3000" dirty="0"/>
          </a:p>
        </p:txBody>
      </p:sp>
      <p:graphicFrame>
        <p:nvGraphicFramePr>
          <p:cNvPr id="3" name="Gráfico grupo de control" descr=""/>
          <p:cNvGraphicFramePr/>
          <p:nvPr/>
        </p:nvGraphicFramePr>
        <p:xfrm>
          <a:off x="548640" y="146304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040880" y="173736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15 % de los clientes en riesgo no se contacta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2651760"/>
            <a:ext cx="4599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Así sabes qué parte del resultado es del agente y qué habría pasado igualmente. No pedimos que te creas las cifras: se miden.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3977640"/>
            <a:ext cx="4599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 veces más</a:t>
            </a:r>
            <a:endParaRPr lang="en-US" sz="2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clientes recuperados que sin contacto</a:t>
            </a:r>
            <a:endParaRPr lang="en-US" sz="2800" dirty="0"/>
          </a:p>
        </p:txBody>
      </p:sp>
      <p:sp>
        <p:nvSpPr>
          <p:cNvPr id="7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Datos ilustrativos de la demo, abril–septiembre de 2026: 49 de 65 contactados frente a 3 de 17 en el grupo de control.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 paga solo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4,0 €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margen recuperado por cada euro del servicio, descontando lo que habría vuelto solo</a:t>
            </a:r>
            <a:endParaRPr lang="en-US" sz="1600" dirty="0"/>
          </a:p>
        </p:txBody>
      </p:sp>
      <p:graphicFrame>
        <p:nvGraphicFramePr>
          <p:cNvPr id="9" name="Tabla retorn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49377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Margen recuperado en septiembre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7.794 €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Descontando lo que habría vuelto solo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5.969 €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Coste del servicio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− 1.490 €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Beneficio neto del mes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4.479 €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Gráfico margen mensual" descr=""/>
          <p:cNvGraphicFramePr/>
          <p:nvPr/>
        </p:nvGraphicFramePr>
        <p:xfrm>
          <a:off x="6035040" y="1463040"/>
          <a:ext cx="5605272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Cifras de la demo con un coste provisional de 1.490 €/mes. En un piloto se calculan con tus datos.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Qué lo hace diferente</a:t>
            </a:r>
            <a:endParaRPr lang="en-US" sz="3000" dirty="0"/>
          </a:p>
        </p:txBody>
      </p:sp>
      <p:graphicFrame>
        <p:nvGraphicFramePr>
          <p:cNvPr id="10" name="Tab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011680"/>
                <a:gridCol w="18562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ERP y app de preventa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Apps de pedidos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Chatbots genéricos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Ryvai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Detecta clientes que se salen de su patrón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Informes, si alguien los mira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No es su foco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Sí, cada día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Contacta al cliente por iniciativa propia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Responde cuando el cliente pide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Responde cuando le escriben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Sí, por WhatsApp y llamada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Cierra el pedido y lo registra en el ERP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Lo registra el comercial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Según el proyecto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Pide ayuda con opciones y consecuencias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Pasa la conversación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Sí, en un clic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Mide el resultado frente a un grupo de control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Sí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4" name="Nota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Comparativa general por tipo de solución. Cada proveedor concreto puede variar.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empezamos: un piloto de 90 días</a:t>
            </a:r>
            <a:endParaRPr lang="en-US" sz="3000" dirty="0"/>
          </a:p>
        </p:txBody>
      </p:sp>
      <p:sp>
        <p:nvSpPr>
          <p:cNvPr id="3" name="Fase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Conector 1"/>
          <p:cNvSpPr/>
          <p:nvPr/>
        </p:nvSpPr>
        <p:spPr>
          <a:xfrm>
            <a:off x="1234440" y="1837944"/>
            <a:ext cx="2033930" cy="0"/>
          </a:xfrm>
          <a:prstGeom prst="line">
            <a:avLst/>
          </a:prstGeom>
          <a:noFill/>
          <a:ln w="19050">
            <a:solidFill>
              <a:srgbClr val="C9DFD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Semanas 1–2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334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Conectamos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906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ERP, catálogo y WhatsApp Business. El agente solo observa y aprende los patrones.</a:t>
            </a:r>
            <a:endParaRPr lang="en-US" sz="1400" dirty="0"/>
          </a:p>
        </p:txBody>
      </p:sp>
      <p:sp>
        <p:nvSpPr>
          <p:cNvPr id="9" name="Fase 2"/>
          <p:cNvSpPr/>
          <p:nvPr/>
        </p:nvSpPr>
        <p:spPr>
          <a:xfrm>
            <a:off x="3387242" y="15544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7242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ector 2"/>
          <p:cNvSpPr/>
          <p:nvPr/>
        </p:nvSpPr>
        <p:spPr>
          <a:xfrm>
            <a:off x="4073042" y="1837944"/>
            <a:ext cx="2033930" cy="0"/>
          </a:xfrm>
          <a:prstGeom prst="line">
            <a:avLst/>
          </a:prstGeom>
          <a:noFill/>
          <a:ln w="19050">
            <a:solidFill>
              <a:srgbClr val="C9DFD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387242" y="2331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Semanas 3–4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87242" y="26334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Propone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387242" y="30906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Prepara contactos y pedidos; tu equipo los aprueba antes de enviarlos.</a:t>
            </a:r>
            <a:endParaRPr lang="en-US" sz="1400" dirty="0"/>
          </a:p>
        </p:txBody>
      </p:sp>
      <p:sp>
        <p:nvSpPr>
          <p:cNvPr id="15" name="Fase 3"/>
          <p:cNvSpPr/>
          <p:nvPr/>
        </p:nvSpPr>
        <p:spPr>
          <a:xfrm>
            <a:off x="6225845" y="155448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25845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Conector 3"/>
          <p:cNvSpPr/>
          <p:nvPr/>
        </p:nvSpPr>
        <p:spPr>
          <a:xfrm>
            <a:off x="6911645" y="1837944"/>
            <a:ext cx="2033930" cy="0"/>
          </a:xfrm>
          <a:prstGeom prst="line">
            <a:avLst/>
          </a:prstGeom>
          <a:noFill/>
          <a:ln w="19050">
            <a:solidFill>
              <a:srgbClr val="C9DFD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225845" y="2331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Mes 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25845" y="26334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Actúa y avisa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25845" y="30906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Pedidos habituales y clientes en riesgo. Tú resuelves los casos atascados.</a:t>
            </a:r>
            <a:endParaRPr lang="en-US" sz="1400" dirty="0"/>
          </a:p>
        </p:txBody>
      </p:sp>
      <p:sp>
        <p:nvSpPr>
          <p:cNvPr id="21" name="Fase 4"/>
          <p:cNvSpPr/>
          <p:nvPr/>
        </p:nvSpPr>
        <p:spPr>
          <a:xfrm>
            <a:off x="9064447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64447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064447" y="2331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Mes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64447" y="263347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Medimos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064447" y="30906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Resultados frente al grupo de control y decisión de seguir con datos en la mano.</a:t>
            </a:r>
            <a:endParaRPr lang="en-US" sz="1400" dirty="0"/>
          </a:p>
        </p:txBody>
      </p:sp>
      <p:sp>
        <p:nvSpPr>
          <p:cNvPr id="26" name="Qué necesitamos"/>
          <p:cNvSpPr/>
          <p:nvPr/>
        </p:nvSpPr>
        <p:spPr>
          <a:xfrm>
            <a:off x="548640" y="452628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617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necesitamos de ti: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acceso al ERP, un número de WhatsApp Business y una persona de referencia unos minutos al día para resolver los casos atascados.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¿Lo probamos con tus clientes?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Elegimos juntos un grupo de clientes, activamos el agente y en 90 días medimos lo que recupera.</a:t>
            </a:r>
            <a:endParaRPr lang="en-US" sz="2000" dirty="0"/>
          </a:p>
        </p:txBody>
      </p:sp>
      <p:sp>
        <p:nvSpPr>
          <p:cNvPr id="4" name="Marca"/>
          <p:cNvSpPr txBox="1"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Ryvai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yvai">
  <a:themeElements>
    <a:clrScheme name="Ryvai">
      <a:dk1>
        <a:srgbClr val="1D2320"/>
      </a:dk1>
      <a:lt1>
        <a:srgbClr val="FFFFFF"/>
      </a:lt1>
      <a:dk2>
        <a:srgbClr val="0F5C57"/>
      </a:dk2>
      <a:lt2>
        <a:srgbClr val="F3F0EA"/>
      </a:lt2>
      <a:accent1>
        <a:srgbClr val="0F5C57"/>
      </a:accent1>
      <a:accent2>
        <a:srgbClr val="9A6410"/>
      </a:accent2>
      <a:accent3>
        <a:srgbClr val="C9DFDB"/>
      </a:accent3>
      <a:accent4>
        <a:srgbClr val="5C635F"/>
      </a:accent4>
      <a:accent5>
        <a:srgbClr val="B03A2E"/>
      </a:accent5>
      <a:accent6>
        <a:srgbClr val="E8F1EF"/>
      </a:accent6>
      <a:hlink>
        <a:srgbClr val="0F5C57"/>
      </a:hlink>
      <a:folHlink>
        <a:srgbClr val="5C635F"/>
      </a:folHlink>
    </a:clrScheme>
    <a:fontScheme name="Ryva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Ryvai · Propuesta de valor</dc:title>
  <dc:subject>PptxGenJS Presentation</dc:subject>
  <dc:creator>Ryvai</dc:creator>
  <cp:lastModifiedBy>Ryvai</cp:lastModifiedBy>
  <cp:revision>1</cp:revision>
  <dcterms:created xsi:type="dcterms:W3CDTF">2026-10-02T07:03:12Z</dcterms:created>
  <dcterms:modified xsi:type="dcterms:W3CDTF">2026-10-02T07:03:12Z</dcterms:modified>
</cp:coreProperties>
</file>